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1c48333-71b1-1e2b-1a69-277a2caf0926}">
          <p14:sldIdLst>
            <p14:sldId id="256"/>
            <p14:sldId id="257"/>
            <p14:sldId id="258"/>
            <p14:sldId id="259"/>
          </p14:sldIdLst>
        </p14:section>
        <p14:section name="Design" id="{1b0c8ff7-7a65-6282-a13a-dec7d6e012f6}">
          <p14:sldIdLst>
            <p14:sldId id="260"/>
            <p14:sldId id="261"/>
            <p14:sldId id="262"/>
          </p14:sldIdLst>
        </p14:section>
        <p14:section name="Build" id="{581fa5e7-970d-8cef-84ee-cdb598183bba}">
          <p14:sldIdLst>
            <p14:sldId id="263"/>
            <p14:sldId id="264"/>
          </p14:sldIdLst>
        </p14:section>
        <p14:section name="Close" id="{e727f1f3-e958-43e2-1421-c4b7885fe8b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web-based Online Election System built during the summer internship at Fantasy Solution, Trichy.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elections depend on paper, queues and manual counting. The project digitises registration, voting and record keeping on one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main objectives: secure access, candidate viewing, online voting, duplicate-vote prevention, centralised records and an admin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manual approach with the centralised web-based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Client-server architecture with three layers. The frontend talks to the Node.js/Express backend over HTTP; the backend reads and writes MongoDB. Voter and admin flows are shown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proposed method splits the application into eight modules: registration, authentication, candidate management, voting, validation, admin, database and result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is the key decision: if the voter's hasVoted flag is already true, the request is rejected; otherwise the vote is stored and the flag is updated.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Mongoose models and seven REST endpoints power the application. Registration, login, candidate listing, voting and admin operations all go through these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Functional testing covered registration, login, candidate viewing, voting, validation and admin functions, including empty fields, invalid logins, duplicate registrations and repeated voting.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a working foundation. Next steps focus on security (OTP, JWT, hashing), result visualisation, notifications, mobile and cloud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60604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097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Online Election System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606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A Summer Internship Report · IT3711</a:t>
            </a:r>
            <a:endParaRPr lang="en-US" sz="1800" dirty="0"/>
          </a:p>
        </p:txBody>
      </p:sp>
      <p:sp>
        <p:nvSpPr>
          <p:cNvPr id="4" name="Author block"/>
          <p:cNvSpPr txBox="1"/>
          <p:nvPr/>
        </p:nvSpPr>
        <p:spPr>
          <a:xfrm>
            <a:off x="548640" y="33832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Jeya Sanora Freshia J · 810023205703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B.Tech Information Technology, Seventh Semester, 2025–2026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University College of Engineering (BIT Campus), Anna University, Tiruchirappalli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Internship at Fantasy Solution, Trichy</a:t>
            </a:r>
            <a:endParaRPr lang="en-US" sz="1600" dirty="0"/>
          </a:p>
        </p:txBody>
      </p:sp>
      <p:sp>
        <p:nvSpPr>
          <p:cNvPr id="5" name="Hero circle"/>
          <p:cNvSpPr/>
          <p:nvPr/>
        </p:nvSpPr>
        <p:spPr>
          <a:xfrm>
            <a:off x="6309360" y="1234440"/>
            <a:ext cx="2286000" cy="2286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7830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Move Elections Online</a:t>
            </a:r>
            <a:endParaRPr lang="en-US" sz="3200" dirty="0"/>
          </a:p>
        </p:txBody>
      </p:sp>
      <p:sp>
        <p:nvSpPr>
          <p:cNvPr id="3" name="Traditional card"/>
          <p:cNvSpPr/>
          <p:nvPr/>
        </p:nvSpPr>
        <p:spPr>
          <a:xfrm>
            <a:off x="457200" y="1234440"/>
            <a:ext cx="393192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raditional 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Tradition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274320" cy="274320"/>
          </a:xfrm>
          <a:prstGeom prst="rect">
            <a:avLst/>
          </a:prstGeom>
        </p:spPr>
      </p:pic>
      <p:sp>
        <p:nvSpPr>
          <p:cNvPr id="6" name="Traditional heading"/>
          <p:cNvSpPr txBox="1"/>
          <p:nvPr/>
        </p:nvSpPr>
        <p:spPr>
          <a:xfrm>
            <a:off x="137160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Traditional elections</a:t>
            </a:r>
            <a:endParaRPr lang="en-US" sz="2000" dirty="0"/>
          </a:p>
        </p:txBody>
      </p:sp>
      <p:sp>
        <p:nvSpPr>
          <p:cNvPr id="7" name="Traditional points"/>
          <p:cNvSpPr txBox="1"/>
          <p:nvPr/>
        </p:nvSpPr>
        <p:spPr>
          <a:xfrm>
            <a:off x="731520" y="21945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Paper ballots and manual verification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Physical presence and long queues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counting and record keeping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Duplicate or incorrect entries</a:t>
            </a:r>
            <a:endParaRPr lang="en-US" sz="1400" dirty="0"/>
          </a:p>
        </p:txBody>
      </p:sp>
      <p:sp>
        <p:nvSpPr>
          <p:cNvPr id="8" name="Motivation card"/>
          <p:cNvSpPr/>
          <p:nvPr/>
        </p:nvSpPr>
        <p:spPr>
          <a:xfrm>
            <a:off x="4754880" y="1234440"/>
            <a:ext cx="3931920" cy="333756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Motivation circle"/>
          <p:cNvSpPr/>
          <p:nvPr/>
        </p:nvSpPr>
        <p:spPr>
          <a:xfrm>
            <a:off x="49834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Motivati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274320" cy="274320"/>
          </a:xfrm>
          <a:prstGeom prst="rect">
            <a:avLst/>
          </a:prstGeom>
        </p:spPr>
      </p:pic>
      <p:sp>
        <p:nvSpPr>
          <p:cNvPr id="11" name="Motivation heading"/>
          <p:cNvSpPr txBox="1"/>
          <p:nvPr/>
        </p:nvSpPr>
        <p:spPr>
          <a:xfrm>
            <a:off x="566928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Our motivation</a:t>
            </a:r>
            <a:endParaRPr lang="en-US" sz="2000" dirty="0"/>
          </a:p>
        </p:txBody>
      </p:sp>
      <p:sp>
        <p:nvSpPr>
          <p:cNvPr id="12" name="Motivation points"/>
          <p:cNvSpPr txBox="1"/>
          <p:nvPr/>
        </p:nvSpPr>
        <p:spPr>
          <a:xfrm>
            <a:off x="5029200" y="21945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Make voting easier, faster and more organised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Cut paperwork with centralised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Hands-on full-stack practice with Node.js, Express.js and MongoDB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Objectives</a:t>
            </a:r>
            <a:endParaRPr lang="en-US" sz="3200" dirty="0"/>
          </a:p>
        </p:txBody>
      </p:sp>
      <p:sp>
        <p:nvSpPr>
          <p:cNvPr id="3" name="Objective card 1"/>
          <p:cNvSpPr/>
          <p:nvPr/>
        </p:nvSpPr>
        <p:spPr>
          <a:xfrm>
            <a:off x="45720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bjective 1 circle"/>
          <p:cNvSpPr/>
          <p:nvPr/>
        </p:nvSpPr>
        <p:spPr>
          <a:xfrm>
            <a:off x="640080" y="135331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Objectiv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79042"/>
            <a:ext cx="251460" cy="251460"/>
          </a:xfrm>
          <a:prstGeom prst="rect">
            <a:avLst/>
          </a:prstGeom>
        </p:spPr>
      </p:pic>
      <p:sp>
        <p:nvSpPr>
          <p:cNvPr id="6" name="Objective title 1"/>
          <p:cNvSpPr txBox="1"/>
          <p:nvPr/>
        </p:nvSpPr>
        <p:spPr>
          <a:xfrm>
            <a:off x="64008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Secure access</a:t>
            </a:r>
            <a:endParaRPr lang="en-US" sz="1600" dirty="0"/>
          </a:p>
        </p:txBody>
      </p:sp>
      <p:sp>
        <p:nvSpPr>
          <p:cNvPr id="7" name="Objective text 1"/>
          <p:cNvSpPr txBox="1"/>
          <p:nvPr/>
        </p:nvSpPr>
        <p:spPr>
          <a:xfrm>
            <a:off x="640080" y="22128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Voter registration and login with validation</a:t>
            </a:r>
            <a:endParaRPr lang="en-US" sz="1200" dirty="0"/>
          </a:p>
        </p:txBody>
      </p:sp>
      <p:sp>
        <p:nvSpPr>
          <p:cNvPr id="8" name="Objective card 2"/>
          <p:cNvSpPr/>
          <p:nvPr/>
        </p:nvSpPr>
        <p:spPr>
          <a:xfrm>
            <a:off x="329184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Objective 2 circle"/>
          <p:cNvSpPr/>
          <p:nvPr/>
        </p:nvSpPr>
        <p:spPr>
          <a:xfrm>
            <a:off x="3474720" y="135331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Objectiv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479042"/>
            <a:ext cx="251460" cy="251460"/>
          </a:xfrm>
          <a:prstGeom prst="rect">
            <a:avLst/>
          </a:prstGeom>
        </p:spPr>
      </p:pic>
      <p:sp>
        <p:nvSpPr>
          <p:cNvPr id="11" name="Objective title 2"/>
          <p:cNvSpPr txBox="1"/>
          <p:nvPr/>
        </p:nvSpPr>
        <p:spPr>
          <a:xfrm>
            <a:off x="347472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Candidate viewing</a:t>
            </a:r>
            <a:endParaRPr lang="en-US" sz="1600" dirty="0"/>
          </a:p>
        </p:txBody>
      </p:sp>
      <p:sp>
        <p:nvSpPr>
          <p:cNvPr id="12" name="Objective text 2"/>
          <p:cNvSpPr txBox="1"/>
          <p:nvPr/>
        </p:nvSpPr>
        <p:spPr>
          <a:xfrm>
            <a:off x="3474720" y="22128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Voters see candidate name, party and symbol</a:t>
            </a:r>
            <a:endParaRPr lang="en-US" sz="1200" dirty="0"/>
          </a:p>
        </p:txBody>
      </p:sp>
      <p:sp>
        <p:nvSpPr>
          <p:cNvPr id="13" name="Objective card 3"/>
          <p:cNvSpPr/>
          <p:nvPr/>
        </p:nvSpPr>
        <p:spPr>
          <a:xfrm>
            <a:off x="612648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Objective 3 circle"/>
          <p:cNvSpPr/>
          <p:nvPr/>
        </p:nvSpPr>
        <p:spPr>
          <a:xfrm>
            <a:off x="6309360" y="135331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Objectiv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1479042"/>
            <a:ext cx="251460" cy="251460"/>
          </a:xfrm>
          <a:prstGeom prst="rect">
            <a:avLst/>
          </a:prstGeom>
        </p:spPr>
      </p:pic>
      <p:sp>
        <p:nvSpPr>
          <p:cNvPr id="16" name="Objective title 3"/>
          <p:cNvSpPr txBox="1"/>
          <p:nvPr/>
        </p:nvSpPr>
        <p:spPr>
          <a:xfrm>
            <a:off x="630936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Online voting</a:t>
            </a:r>
            <a:endParaRPr lang="en-US" sz="1600" dirty="0"/>
          </a:p>
        </p:txBody>
      </p:sp>
      <p:sp>
        <p:nvSpPr>
          <p:cNvPr id="17" name="Objective text 3"/>
          <p:cNvSpPr txBox="1"/>
          <p:nvPr/>
        </p:nvSpPr>
        <p:spPr>
          <a:xfrm>
            <a:off x="6309360" y="22128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Eligible voters cast votes electronically</a:t>
            </a:r>
            <a:endParaRPr lang="en-US" sz="1200" dirty="0"/>
          </a:p>
        </p:txBody>
      </p:sp>
      <p:sp>
        <p:nvSpPr>
          <p:cNvPr id="18" name="Objective card 4"/>
          <p:cNvSpPr/>
          <p:nvPr/>
        </p:nvSpPr>
        <p:spPr>
          <a:xfrm>
            <a:off x="457200" y="297180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bjective 4 circle"/>
          <p:cNvSpPr/>
          <p:nvPr/>
        </p:nvSpPr>
        <p:spPr>
          <a:xfrm>
            <a:off x="640080" y="313639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Objectiv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262122"/>
            <a:ext cx="251460" cy="251460"/>
          </a:xfrm>
          <a:prstGeom prst="rect">
            <a:avLst/>
          </a:prstGeom>
        </p:spPr>
      </p:pic>
      <p:sp>
        <p:nvSpPr>
          <p:cNvPr id="21" name="Objective title 4"/>
          <p:cNvSpPr txBox="1"/>
          <p:nvPr/>
        </p:nvSpPr>
        <p:spPr>
          <a:xfrm>
            <a:off x="64008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duplicate votes</a:t>
            </a:r>
            <a:endParaRPr lang="en-US" sz="1600" dirty="0"/>
          </a:p>
        </p:txBody>
      </p:sp>
      <p:sp>
        <p:nvSpPr>
          <p:cNvPr id="22" name="Objective text 4"/>
          <p:cNvSpPr txBox="1"/>
          <p:nvPr/>
        </p:nvSpPr>
        <p:spPr>
          <a:xfrm>
            <a:off x="640080" y="39959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Validation blocks repeat voting attempts</a:t>
            </a:r>
            <a:endParaRPr lang="en-US" sz="1200" dirty="0"/>
          </a:p>
        </p:txBody>
      </p:sp>
      <p:sp>
        <p:nvSpPr>
          <p:cNvPr id="23" name="Objective card 5"/>
          <p:cNvSpPr/>
          <p:nvPr/>
        </p:nvSpPr>
        <p:spPr>
          <a:xfrm>
            <a:off x="3291840" y="297180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Objective 5 circle"/>
          <p:cNvSpPr/>
          <p:nvPr/>
        </p:nvSpPr>
        <p:spPr>
          <a:xfrm>
            <a:off x="3474720" y="313639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Objectiv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3262122"/>
            <a:ext cx="251460" cy="251460"/>
          </a:xfrm>
          <a:prstGeom prst="rect">
            <a:avLst/>
          </a:prstGeom>
        </p:spPr>
      </p:pic>
      <p:sp>
        <p:nvSpPr>
          <p:cNvPr id="26" name="Objective title 5"/>
          <p:cNvSpPr txBox="1"/>
          <p:nvPr/>
        </p:nvSpPr>
        <p:spPr>
          <a:xfrm>
            <a:off x="347472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Central records</a:t>
            </a:r>
            <a:endParaRPr lang="en-US" sz="1600" dirty="0"/>
          </a:p>
        </p:txBody>
      </p:sp>
      <p:sp>
        <p:nvSpPr>
          <p:cNvPr id="27" name="Objective text 5"/>
          <p:cNvSpPr txBox="1"/>
          <p:nvPr/>
        </p:nvSpPr>
        <p:spPr>
          <a:xfrm>
            <a:off x="3474720" y="39959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Voters, candidates and votes kept in MongoDB</a:t>
            </a:r>
            <a:endParaRPr lang="en-US" sz="1200" dirty="0"/>
          </a:p>
        </p:txBody>
      </p:sp>
      <p:sp>
        <p:nvSpPr>
          <p:cNvPr id="28" name="Objective card 6"/>
          <p:cNvSpPr/>
          <p:nvPr/>
        </p:nvSpPr>
        <p:spPr>
          <a:xfrm>
            <a:off x="6126480" y="297180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Objective 6 circle"/>
          <p:cNvSpPr/>
          <p:nvPr/>
        </p:nvSpPr>
        <p:spPr>
          <a:xfrm>
            <a:off x="6309360" y="313639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Objectiv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0" y="3262122"/>
            <a:ext cx="251460" cy="251460"/>
          </a:xfrm>
          <a:prstGeom prst="rect">
            <a:avLst/>
          </a:prstGeom>
        </p:spPr>
      </p:pic>
      <p:sp>
        <p:nvSpPr>
          <p:cNvPr id="31" name="Objective title 6"/>
          <p:cNvSpPr txBox="1"/>
          <p:nvPr/>
        </p:nvSpPr>
        <p:spPr>
          <a:xfrm>
            <a:off x="630936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Easy administration</a:t>
            </a:r>
            <a:endParaRPr lang="en-US" sz="1600" dirty="0"/>
          </a:p>
        </p:txBody>
      </p:sp>
      <p:sp>
        <p:nvSpPr>
          <p:cNvPr id="32" name="Objective text 6"/>
          <p:cNvSpPr txBox="1"/>
          <p:nvPr/>
        </p:nvSpPr>
        <p:spPr>
          <a:xfrm>
            <a:off x="6309360" y="39959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Admin manages voters, candidates and results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Existing vs Proposed System</a:t>
            </a:r>
            <a:endParaRPr lang="en-US" sz="3200" dirty="0"/>
          </a:p>
        </p:txBody>
      </p:sp>
      <p:sp>
        <p:nvSpPr>
          <p:cNvPr id="3" name="Existing card"/>
          <p:cNvSpPr/>
          <p:nvPr/>
        </p:nvSpPr>
        <p:spPr>
          <a:xfrm>
            <a:off x="457200" y="1234440"/>
            <a:ext cx="384048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xisting heading"/>
          <p:cNvSpPr txBox="1"/>
          <p:nvPr/>
        </p:nvSpPr>
        <p:spPr>
          <a:xfrm>
            <a:off x="73152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Existing system</a:t>
            </a:r>
            <a:endParaRPr lang="en-US" sz="2000" dirty="0"/>
          </a:p>
        </p:txBody>
      </p:sp>
      <p:sp>
        <p:nvSpPr>
          <p:cNvPr id="5" name="Existing points"/>
          <p:cNvSpPr txBox="1"/>
          <p:nvPr/>
        </p:nvSpPr>
        <p:spPr>
          <a:xfrm>
            <a:off x="731520" y="196596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voter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Paper-based, scattered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Slow, time-consuming handling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Human errors and duplicate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Hard to monitor centrally</a:t>
            </a:r>
            <a:endParaRPr lang="en-US" sz="1400" dirty="0"/>
          </a:p>
        </p:txBody>
      </p:sp>
      <p:sp>
        <p:nvSpPr>
          <p:cNvPr id="6" name="Proposed card"/>
          <p:cNvSpPr/>
          <p:nvPr/>
        </p:nvSpPr>
        <p:spPr>
          <a:xfrm>
            <a:off x="4846320" y="1234440"/>
            <a:ext cx="3840480" cy="333756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Proposed heading"/>
          <p:cNvSpPr txBox="1"/>
          <p:nvPr/>
        </p:nvSpPr>
        <p:spPr>
          <a:xfrm>
            <a:off x="51206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Proposed system</a:t>
            </a:r>
            <a:endParaRPr lang="en-US" sz="2000" dirty="0"/>
          </a:p>
        </p:txBody>
      </p:sp>
      <p:sp>
        <p:nvSpPr>
          <p:cNvPr id="8" name="Proposed points"/>
          <p:cNvSpPr txBox="1"/>
          <p:nvPr/>
        </p:nvSpPr>
        <p:spPr>
          <a:xfrm>
            <a:off x="5120640" y="196596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Online registration and login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Candidates displayed digitally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 validated vote per voter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Votes stored in MongoDB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Admin manages voters and candidates</a:t>
            </a:r>
            <a:endParaRPr lang="en-US" sz="1400" dirty="0"/>
          </a:p>
        </p:txBody>
      </p:sp>
      <p:sp>
        <p:nvSpPr>
          <p:cNvPr id="9" name="Arrow circle"/>
          <p:cNvSpPr/>
          <p:nvPr/>
        </p:nvSpPr>
        <p:spPr>
          <a:xfrm>
            <a:off x="4206240" y="269748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10" name="Arrow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6552" y="290779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Layer card 1"/>
          <p:cNvSpPr/>
          <p:nvPr/>
        </p:nvSpPr>
        <p:spPr>
          <a:xfrm>
            <a:off x="457200" y="1188720"/>
            <a:ext cx="23774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ayer 1 circle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Layer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51610"/>
            <a:ext cx="251460" cy="251460"/>
          </a:xfrm>
          <a:prstGeom prst="rect">
            <a:avLst/>
          </a:prstGeom>
        </p:spPr>
      </p:pic>
      <p:sp>
        <p:nvSpPr>
          <p:cNvPr id="6" name="Layer title 1"/>
          <p:cNvSpPr txBox="1"/>
          <p:nvPr/>
        </p:nvSpPr>
        <p:spPr>
          <a:xfrm>
            <a:off x="64008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Presentation layer</a:t>
            </a:r>
            <a:endParaRPr lang="en-US" sz="1600" dirty="0"/>
          </a:p>
        </p:txBody>
      </p:sp>
      <p:sp>
        <p:nvSpPr>
          <p:cNvPr id="7" name="Layer text 1"/>
          <p:cNvSpPr txBox="1"/>
          <p:nvPr/>
        </p:nvSpPr>
        <p:spPr>
          <a:xfrm>
            <a:off x="640080" y="2212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HTML, CSS, JavaScript</a:t>
            </a:r>
            <a:endParaRPr lang="en-US" sz="1200" dirty="0"/>
          </a:p>
        </p:txBody>
      </p:sp>
      <p:sp>
        <p:nvSpPr>
          <p:cNvPr id="8" name="Layer arrow 1"/>
          <p:cNvSpPr/>
          <p:nvPr/>
        </p:nvSpPr>
        <p:spPr>
          <a:xfrm>
            <a:off x="2926080" y="1810512"/>
            <a:ext cx="54864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Layer card 2"/>
          <p:cNvSpPr/>
          <p:nvPr/>
        </p:nvSpPr>
        <p:spPr>
          <a:xfrm>
            <a:off x="3566160" y="1188720"/>
            <a:ext cx="23774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ayer 2 circle"/>
          <p:cNvSpPr/>
          <p:nvPr/>
        </p:nvSpPr>
        <p:spPr>
          <a:xfrm>
            <a:off x="3749040" y="132588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Layer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770" y="1451610"/>
            <a:ext cx="251460" cy="251460"/>
          </a:xfrm>
          <a:prstGeom prst="rect">
            <a:avLst/>
          </a:prstGeom>
        </p:spPr>
      </p:pic>
      <p:sp>
        <p:nvSpPr>
          <p:cNvPr id="12" name="Layer title 2"/>
          <p:cNvSpPr txBox="1"/>
          <p:nvPr/>
        </p:nvSpPr>
        <p:spPr>
          <a:xfrm>
            <a:off x="374904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Application layer</a:t>
            </a:r>
            <a:endParaRPr lang="en-US" sz="1600" dirty="0"/>
          </a:p>
        </p:txBody>
      </p:sp>
      <p:sp>
        <p:nvSpPr>
          <p:cNvPr id="13" name="Layer text 2"/>
          <p:cNvSpPr txBox="1"/>
          <p:nvPr/>
        </p:nvSpPr>
        <p:spPr>
          <a:xfrm>
            <a:off x="3749040" y="2212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Node.js + Express.js REST API</a:t>
            </a:r>
            <a:endParaRPr lang="en-US" sz="1200" dirty="0"/>
          </a:p>
        </p:txBody>
      </p:sp>
      <p:sp>
        <p:nvSpPr>
          <p:cNvPr id="14" name="Layer arrow 2"/>
          <p:cNvSpPr/>
          <p:nvPr/>
        </p:nvSpPr>
        <p:spPr>
          <a:xfrm>
            <a:off x="6035040" y="1810512"/>
            <a:ext cx="54864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Layer card 3"/>
          <p:cNvSpPr/>
          <p:nvPr/>
        </p:nvSpPr>
        <p:spPr>
          <a:xfrm>
            <a:off x="6675120" y="1188720"/>
            <a:ext cx="23774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ayer 3 circle"/>
          <p:cNvSpPr/>
          <p:nvPr/>
        </p:nvSpPr>
        <p:spPr>
          <a:xfrm>
            <a:off x="6858000" y="132588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Layer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730" y="1451610"/>
            <a:ext cx="251460" cy="251460"/>
          </a:xfrm>
          <a:prstGeom prst="rect">
            <a:avLst/>
          </a:prstGeom>
        </p:spPr>
      </p:pic>
      <p:sp>
        <p:nvSpPr>
          <p:cNvPr id="18" name="Layer title 3"/>
          <p:cNvSpPr txBox="1"/>
          <p:nvPr/>
        </p:nvSpPr>
        <p:spPr>
          <a:xfrm>
            <a:off x="685800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Database layer</a:t>
            </a:r>
            <a:endParaRPr lang="en-US" sz="1600" dirty="0"/>
          </a:p>
        </p:txBody>
      </p:sp>
      <p:sp>
        <p:nvSpPr>
          <p:cNvPr id="19" name="Layer text 3"/>
          <p:cNvSpPr txBox="1"/>
          <p:nvPr/>
        </p:nvSpPr>
        <p:spPr>
          <a:xfrm>
            <a:off x="6858000" y="2212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MongoDB: users, candidates, votes</a:t>
            </a:r>
            <a:endParaRPr lang="en-US" sz="1200" dirty="0"/>
          </a:p>
        </p:txBody>
      </p:sp>
      <p:sp>
        <p:nvSpPr>
          <p:cNvPr id="20" name="VOTER label shape"/>
          <p:cNvSpPr/>
          <p:nvPr/>
        </p:nvSpPr>
        <p:spPr>
          <a:xfrm>
            <a:off x="457200" y="3108960"/>
            <a:ext cx="100584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VOTER label"/>
          <p:cNvSpPr txBox="1"/>
          <p:nvPr/>
        </p:nvSpPr>
        <p:spPr>
          <a:xfrm>
            <a:off x="457200" y="31089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VOTER</a:t>
            </a:r>
            <a:endParaRPr lang="en-US" sz="1400" dirty="0"/>
          </a:p>
        </p:txBody>
      </p:sp>
      <p:sp>
        <p:nvSpPr>
          <p:cNvPr id="22" name="VOTER step shape 1"/>
          <p:cNvSpPr/>
          <p:nvPr/>
        </p:nvSpPr>
        <p:spPr>
          <a:xfrm>
            <a:off x="1600200" y="3108960"/>
            <a:ext cx="123444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VOTER step 1"/>
          <p:cNvSpPr txBox="1"/>
          <p:nvPr/>
        </p:nvSpPr>
        <p:spPr>
          <a:xfrm>
            <a:off x="1645920" y="31089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Register</a:t>
            </a:r>
            <a:endParaRPr lang="en-US" sz="1200" dirty="0"/>
          </a:p>
        </p:txBody>
      </p:sp>
      <p:sp>
        <p:nvSpPr>
          <p:cNvPr id="24" name="VOTER step shape 2"/>
          <p:cNvSpPr/>
          <p:nvPr/>
        </p:nvSpPr>
        <p:spPr>
          <a:xfrm>
            <a:off x="3063240" y="3108960"/>
            <a:ext cx="123444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VOTER step 2"/>
          <p:cNvSpPr txBox="1"/>
          <p:nvPr/>
        </p:nvSpPr>
        <p:spPr>
          <a:xfrm>
            <a:off x="3108960" y="31089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Login</a:t>
            </a:r>
            <a:endParaRPr lang="en-US" sz="1200" dirty="0"/>
          </a:p>
        </p:txBody>
      </p:sp>
      <p:sp>
        <p:nvSpPr>
          <p:cNvPr id="26" name="VOTER step shape 3"/>
          <p:cNvSpPr/>
          <p:nvPr/>
        </p:nvSpPr>
        <p:spPr>
          <a:xfrm>
            <a:off x="4526280" y="3108960"/>
            <a:ext cx="123444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VOTER step 3"/>
          <p:cNvSpPr txBox="1"/>
          <p:nvPr/>
        </p:nvSpPr>
        <p:spPr>
          <a:xfrm>
            <a:off x="4572000" y="31089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View candidates</a:t>
            </a:r>
            <a:endParaRPr lang="en-US" sz="1200" dirty="0"/>
          </a:p>
        </p:txBody>
      </p:sp>
      <p:sp>
        <p:nvSpPr>
          <p:cNvPr id="28" name="VOTER step shape 4"/>
          <p:cNvSpPr/>
          <p:nvPr/>
        </p:nvSpPr>
        <p:spPr>
          <a:xfrm>
            <a:off x="5989320" y="3108960"/>
            <a:ext cx="123444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VOTER step 4"/>
          <p:cNvSpPr txBox="1"/>
          <p:nvPr/>
        </p:nvSpPr>
        <p:spPr>
          <a:xfrm>
            <a:off x="6035040" y="31089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Cast vote</a:t>
            </a:r>
            <a:endParaRPr lang="en-US" sz="1200" dirty="0"/>
          </a:p>
        </p:txBody>
      </p:sp>
      <p:sp>
        <p:nvSpPr>
          <p:cNvPr id="30" name="VOTER step shape 5"/>
          <p:cNvSpPr/>
          <p:nvPr/>
        </p:nvSpPr>
        <p:spPr>
          <a:xfrm>
            <a:off x="7452360" y="3108960"/>
            <a:ext cx="123444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VOTER step 5"/>
          <p:cNvSpPr txBox="1"/>
          <p:nvPr/>
        </p:nvSpPr>
        <p:spPr>
          <a:xfrm>
            <a:off x="7498080" y="31089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Confirmation</a:t>
            </a:r>
            <a:endParaRPr lang="en-US" sz="1200" dirty="0"/>
          </a:p>
        </p:txBody>
      </p:sp>
      <p:sp>
        <p:nvSpPr>
          <p:cNvPr id="32" name="ADMIN label shape"/>
          <p:cNvSpPr/>
          <p:nvPr/>
        </p:nvSpPr>
        <p:spPr>
          <a:xfrm>
            <a:off x="457200" y="3840480"/>
            <a:ext cx="1005840" cy="594360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3" name="ADMIN label"/>
          <p:cNvSpPr txBox="1"/>
          <p:nvPr/>
        </p:nvSpPr>
        <p:spPr>
          <a:xfrm>
            <a:off x="457200" y="38404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ADMIN</a:t>
            </a:r>
            <a:endParaRPr lang="en-US" sz="1400" dirty="0"/>
          </a:p>
        </p:txBody>
      </p:sp>
      <p:sp>
        <p:nvSpPr>
          <p:cNvPr id="34" name="ADMIN step shape 1"/>
          <p:cNvSpPr/>
          <p:nvPr/>
        </p:nvSpPr>
        <p:spPr>
          <a:xfrm>
            <a:off x="1600200" y="3840480"/>
            <a:ext cx="123444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ADMIN step 1"/>
          <p:cNvSpPr txBox="1"/>
          <p:nvPr/>
        </p:nvSpPr>
        <p:spPr>
          <a:xfrm>
            <a:off x="1645920" y="38404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Admin login</a:t>
            </a:r>
            <a:endParaRPr lang="en-US" sz="1200" dirty="0"/>
          </a:p>
        </p:txBody>
      </p:sp>
      <p:sp>
        <p:nvSpPr>
          <p:cNvPr id="36" name="ADMIN step shape 2"/>
          <p:cNvSpPr/>
          <p:nvPr/>
        </p:nvSpPr>
        <p:spPr>
          <a:xfrm>
            <a:off x="3063240" y="3840480"/>
            <a:ext cx="123444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ADMIN step 2"/>
          <p:cNvSpPr txBox="1"/>
          <p:nvPr/>
        </p:nvSpPr>
        <p:spPr>
          <a:xfrm>
            <a:off x="3108960" y="38404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8" name="ADMIN step shape 3"/>
          <p:cNvSpPr/>
          <p:nvPr/>
        </p:nvSpPr>
        <p:spPr>
          <a:xfrm>
            <a:off x="4526280" y="3840480"/>
            <a:ext cx="123444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ADMIN step 3"/>
          <p:cNvSpPr txBox="1"/>
          <p:nvPr/>
        </p:nvSpPr>
        <p:spPr>
          <a:xfrm>
            <a:off x="4572000" y="38404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Manage candidates</a:t>
            </a:r>
            <a:endParaRPr lang="en-US" sz="1200" dirty="0"/>
          </a:p>
        </p:txBody>
      </p:sp>
      <p:sp>
        <p:nvSpPr>
          <p:cNvPr id="40" name="ADMIN step shape 4"/>
          <p:cNvSpPr/>
          <p:nvPr/>
        </p:nvSpPr>
        <p:spPr>
          <a:xfrm>
            <a:off x="5989320" y="3840480"/>
            <a:ext cx="123444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ADMIN step 4"/>
          <p:cNvSpPr txBox="1"/>
          <p:nvPr/>
        </p:nvSpPr>
        <p:spPr>
          <a:xfrm>
            <a:off x="6035040" y="38404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Manage voters</a:t>
            </a:r>
            <a:endParaRPr lang="en-US" sz="1200" dirty="0"/>
          </a:p>
        </p:txBody>
      </p:sp>
      <p:sp>
        <p:nvSpPr>
          <p:cNvPr id="42" name="ADMIN step shape 5"/>
          <p:cNvSpPr/>
          <p:nvPr/>
        </p:nvSpPr>
        <p:spPr>
          <a:xfrm>
            <a:off x="7452360" y="3840480"/>
            <a:ext cx="123444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ADMIN step 5"/>
          <p:cNvSpPr txBox="1"/>
          <p:nvPr/>
        </p:nvSpPr>
        <p:spPr>
          <a:xfrm>
            <a:off x="7498080" y="38404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View results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Eight Core Modules</a:t>
            </a:r>
            <a:endParaRPr lang="en-US" sz="3200" dirty="0"/>
          </a:p>
        </p:txBody>
      </p:sp>
      <p:sp>
        <p:nvSpPr>
          <p:cNvPr id="3" name="Module card 1"/>
          <p:cNvSpPr/>
          <p:nvPr/>
        </p:nvSpPr>
        <p:spPr>
          <a:xfrm>
            <a:off x="45720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ule 1 circle"/>
          <p:cNvSpPr/>
          <p:nvPr/>
        </p:nvSpPr>
        <p:spPr>
          <a:xfrm>
            <a:off x="621792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Modul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440180"/>
            <a:ext cx="228600" cy="228600"/>
          </a:xfrm>
          <a:prstGeom prst="rect">
            <a:avLst/>
          </a:prstGeom>
        </p:spPr>
      </p:pic>
      <p:sp>
        <p:nvSpPr>
          <p:cNvPr id="6" name="Module title 1"/>
          <p:cNvSpPr txBox="1"/>
          <p:nvPr/>
        </p:nvSpPr>
        <p:spPr>
          <a:xfrm>
            <a:off x="621792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Registration</a:t>
            </a:r>
            <a:endParaRPr lang="en-US" sz="1400" dirty="0"/>
          </a:p>
        </p:txBody>
      </p:sp>
      <p:sp>
        <p:nvSpPr>
          <p:cNvPr id="7" name="Module text 1"/>
          <p:cNvSpPr txBox="1"/>
          <p:nvPr/>
        </p:nvSpPr>
        <p:spPr>
          <a:xfrm>
            <a:off x="621792" y="21579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Creates voter accounts and checks for duplicate emails</a:t>
            </a:r>
            <a:endParaRPr lang="en-US" sz="1200" dirty="0"/>
          </a:p>
        </p:txBody>
      </p:sp>
      <p:sp>
        <p:nvSpPr>
          <p:cNvPr id="8" name="Module card 2"/>
          <p:cNvSpPr/>
          <p:nvPr/>
        </p:nvSpPr>
        <p:spPr>
          <a:xfrm>
            <a:off x="256032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odule 2 circle"/>
          <p:cNvSpPr/>
          <p:nvPr/>
        </p:nvSpPr>
        <p:spPr>
          <a:xfrm>
            <a:off x="2724912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Modul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212" y="1440180"/>
            <a:ext cx="228600" cy="228600"/>
          </a:xfrm>
          <a:prstGeom prst="rect">
            <a:avLst/>
          </a:prstGeom>
        </p:spPr>
      </p:pic>
      <p:sp>
        <p:nvSpPr>
          <p:cNvPr id="11" name="Module title 2"/>
          <p:cNvSpPr txBox="1"/>
          <p:nvPr/>
        </p:nvSpPr>
        <p:spPr>
          <a:xfrm>
            <a:off x="2724912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12" name="Module text 2"/>
          <p:cNvSpPr txBox="1"/>
          <p:nvPr/>
        </p:nvSpPr>
        <p:spPr>
          <a:xfrm>
            <a:off x="2724912" y="21579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Verifies credentials and opens the voting page</a:t>
            </a:r>
            <a:endParaRPr lang="en-US" sz="1200" dirty="0"/>
          </a:p>
        </p:txBody>
      </p:sp>
      <p:sp>
        <p:nvSpPr>
          <p:cNvPr id="13" name="Module card 3"/>
          <p:cNvSpPr/>
          <p:nvPr/>
        </p:nvSpPr>
        <p:spPr>
          <a:xfrm>
            <a:off x="466344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odule 3 circle"/>
          <p:cNvSpPr/>
          <p:nvPr/>
        </p:nvSpPr>
        <p:spPr>
          <a:xfrm>
            <a:off x="4828032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Modul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32" y="1440180"/>
            <a:ext cx="228600" cy="228600"/>
          </a:xfrm>
          <a:prstGeom prst="rect">
            <a:avLst/>
          </a:prstGeom>
        </p:spPr>
      </p:pic>
      <p:sp>
        <p:nvSpPr>
          <p:cNvPr id="16" name="Module title 3"/>
          <p:cNvSpPr txBox="1"/>
          <p:nvPr/>
        </p:nvSpPr>
        <p:spPr>
          <a:xfrm>
            <a:off x="4828032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Candidates</a:t>
            </a:r>
            <a:endParaRPr lang="en-US" sz="1400" dirty="0"/>
          </a:p>
        </p:txBody>
      </p:sp>
      <p:sp>
        <p:nvSpPr>
          <p:cNvPr id="17" name="Module text 3"/>
          <p:cNvSpPr txBox="1"/>
          <p:nvPr/>
        </p:nvSpPr>
        <p:spPr>
          <a:xfrm>
            <a:off x="4828032" y="21579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Admin adds, updates and lists candidates</a:t>
            </a:r>
            <a:endParaRPr lang="en-US" sz="1200" dirty="0"/>
          </a:p>
        </p:txBody>
      </p:sp>
      <p:sp>
        <p:nvSpPr>
          <p:cNvPr id="18" name="Module card 4"/>
          <p:cNvSpPr/>
          <p:nvPr/>
        </p:nvSpPr>
        <p:spPr>
          <a:xfrm>
            <a:off x="676656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Module 4 circle"/>
          <p:cNvSpPr/>
          <p:nvPr/>
        </p:nvSpPr>
        <p:spPr>
          <a:xfrm>
            <a:off x="6931152" y="132588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Modul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452" y="1440180"/>
            <a:ext cx="228600" cy="228600"/>
          </a:xfrm>
          <a:prstGeom prst="rect">
            <a:avLst/>
          </a:prstGeom>
        </p:spPr>
      </p:pic>
      <p:sp>
        <p:nvSpPr>
          <p:cNvPr id="21" name="Module title 4"/>
          <p:cNvSpPr txBox="1"/>
          <p:nvPr/>
        </p:nvSpPr>
        <p:spPr>
          <a:xfrm>
            <a:off x="6931152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Voting</a:t>
            </a:r>
            <a:endParaRPr lang="en-US" sz="1400" dirty="0"/>
          </a:p>
        </p:txBody>
      </p:sp>
      <p:sp>
        <p:nvSpPr>
          <p:cNvPr id="22" name="Module text 4"/>
          <p:cNvSpPr txBox="1"/>
          <p:nvPr/>
        </p:nvSpPr>
        <p:spPr>
          <a:xfrm>
            <a:off x="6931152" y="21579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Voter picks a candidate and submits a vote</a:t>
            </a:r>
            <a:endParaRPr lang="en-US" sz="1200" dirty="0"/>
          </a:p>
        </p:txBody>
      </p:sp>
      <p:sp>
        <p:nvSpPr>
          <p:cNvPr id="23" name="Module card 5"/>
          <p:cNvSpPr/>
          <p:nvPr/>
        </p:nvSpPr>
        <p:spPr>
          <a:xfrm>
            <a:off x="457200" y="29718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Module 5 circle"/>
          <p:cNvSpPr/>
          <p:nvPr/>
        </p:nvSpPr>
        <p:spPr>
          <a:xfrm>
            <a:off x="621792" y="31089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Modul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3223260"/>
            <a:ext cx="228600" cy="228600"/>
          </a:xfrm>
          <a:prstGeom prst="rect">
            <a:avLst/>
          </a:prstGeom>
        </p:spPr>
      </p:pic>
      <p:sp>
        <p:nvSpPr>
          <p:cNvPr id="26" name="Module title 5"/>
          <p:cNvSpPr txBox="1"/>
          <p:nvPr/>
        </p:nvSpPr>
        <p:spPr>
          <a:xfrm>
            <a:off x="621792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27" name="Module text 5"/>
          <p:cNvSpPr txBox="1"/>
          <p:nvPr/>
        </p:nvSpPr>
        <p:spPr>
          <a:xfrm>
            <a:off x="621792" y="39410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Checks voter and rejects repeat votes</a:t>
            </a:r>
            <a:endParaRPr lang="en-US" sz="1200" dirty="0"/>
          </a:p>
        </p:txBody>
      </p:sp>
      <p:sp>
        <p:nvSpPr>
          <p:cNvPr id="28" name="Module card 6"/>
          <p:cNvSpPr/>
          <p:nvPr/>
        </p:nvSpPr>
        <p:spPr>
          <a:xfrm>
            <a:off x="2560320" y="29718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Module 6 circle"/>
          <p:cNvSpPr/>
          <p:nvPr/>
        </p:nvSpPr>
        <p:spPr>
          <a:xfrm>
            <a:off x="2724912" y="31089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Modul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9212" y="3223260"/>
            <a:ext cx="228600" cy="228600"/>
          </a:xfrm>
          <a:prstGeom prst="rect">
            <a:avLst/>
          </a:prstGeom>
        </p:spPr>
      </p:pic>
      <p:sp>
        <p:nvSpPr>
          <p:cNvPr id="31" name="Module title 6"/>
          <p:cNvSpPr txBox="1"/>
          <p:nvPr/>
        </p:nvSpPr>
        <p:spPr>
          <a:xfrm>
            <a:off x="2724912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</a:t>
            </a:r>
            <a:endParaRPr lang="en-US" sz="1400" dirty="0"/>
          </a:p>
        </p:txBody>
      </p:sp>
      <p:sp>
        <p:nvSpPr>
          <p:cNvPr id="32" name="Module text 6"/>
          <p:cNvSpPr txBox="1"/>
          <p:nvPr/>
        </p:nvSpPr>
        <p:spPr>
          <a:xfrm>
            <a:off x="2724912" y="39410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 for voters, candidates and votes</a:t>
            </a:r>
            <a:endParaRPr lang="en-US" sz="1200" dirty="0"/>
          </a:p>
        </p:txBody>
      </p:sp>
      <p:sp>
        <p:nvSpPr>
          <p:cNvPr id="33" name="Module card 7"/>
          <p:cNvSpPr/>
          <p:nvPr/>
        </p:nvSpPr>
        <p:spPr>
          <a:xfrm>
            <a:off x="4663440" y="29718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Module 7 circle"/>
          <p:cNvSpPr/>
          <p:nvPr/>
        </p:nvSpPr>
        <p:spPr>
          <a:xfrm>
            <a:off x="4828032" y="31089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5" name="Module 7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2332" y="3223260"/>
            <a:ext cx="228600" cy="228600"/>
          </a:xfrm>
          <a:prstGeom prst="rect">
            <a:avLst/>
          </a:prstGeom>
        </p:spPr>
      </p:pic>
      <p:sp>
        <p:nvSpPr>
          <p:cNvPr id="36" name="Module title 7"/>
          <p:cNvSpPr txBox="1"/>
          <p:nvPr/>
        </p:nvSpPr>
        <p:spPr>
          <a:xfrm>
            <a:off x="4828032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Database</a:t>
            </a:r>
            <a:endParaRPr lang="en-US" sz="1400" dirty="0"/>
          </a:p>
        </p:txBody>
      </p:sp>
      <p:sp>
        <p:nvSpPr>
          <p:cNvPr id="37" name="Module text 7"/>
          <p:cNvSpPr txBox="1"/>
          <p:nvPr/>
        </p:nvSpPr>
        <p:spPr>
          <a:xfrm>
            <a:off x="4828032" y="39410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MongoDB stores voters, candidates, votes</a:t>
            </a:r>
            <a:endParaRPr lang="en-US" sz="1200" dirty="0"/>
          </a:p>
        </p:txBody>
      </p:sp>
      <p:sp>
        <p:nvSpPr>
          <p:cNvPr id="38" name="Module card 8"/>
          <p:cNvSpPr/>
          <p:nvPr/>
        </p:nvSpPr>
        <p:spPr>
          <a:xfrm>
            <a:off x="6766560" y="29718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Module 8 circle"/>
          <p:cNvSpPr/>
          <p:nvPr/>
        </p:nvSpPr>
        <p:spPr>
          <a:xfrm>
            <a:off x="6931152" y="310896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0" name="Module 8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5452" y="3223260"/>
            <a:ext cx="228600" cy="228600"/>
          </a:xfrm>
          <a:prstGeom prst="rect">
            <a:avLst/>
          </a:prstGeom>
        </p:spPr>
      </p:pic>
      <p:sp>
        <p:nvSpPr>
          <p:cNvPr id="41" name="Module title 8"/>
          <p:cNvSpPr txBox="1"/>
          <p:nvPr/>
        </p:nvSpPr>
        <p:spPr>
          <a:xfrm>
            <a:off x="6931152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Results</a:t>
            </a:r>
            <a:endParaRPr lang="en-US" sz="1400" dirty="0"/>
          </a:p>
        </p:txBody>
      </p:sp>
      <p:sp>
        <p:nvSpPr>
          <p:cNvPr id="42" name="Module text 8"/>
          <p:cNvSpPr txBox="1"/>
          <p:nvPr/>
        </p:nvSpPr>
        <p:spPr>
          <a:xfrm>
            <a:off x="6931152" y="39410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Counts stored votes per candidate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Vote Casting and Validation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457200" y="1188720"/>
            <a:ext cx="146304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 circle 1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title 1"/>
          <p:cNvSpPr txBox="1"/>
          <p:nvPr/>
        </p:nvSpPr>
        <p:spPr>
          <a:xfrm>
            <a:off x="594360" y="1828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Receive request</a:t>
            </a:r>
            <a:endParaRPr lang="en-US" sz="1400" dirty="0"/>
          </a:p>
        </p:txBody>
      </p:sp>
      <p:sp>
        <p:nvSpPr>
          <p:cNvPr id="7" name="Step text 1"/>
          <p:cNvSpPr txBox="1"/>
          <p:nvPr/>
        </p:nvSpPr>
        <p:spPr>
          <a:xfrm>
            <a:off x="594360" y="212140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Voter ID and candidate ID reach /api/vote</a:t>
            </a:r>
            <a:endParaRPr lang="en-US" sz="1200" dirty="0"/>
          </a:p>
        </p:txBody>
      </p:sp>
      <p:sp>
        <p:nvSpPr>
          <p:cNvPr id="8" name="Step card 2"/>
          <p:cNvSpPr/>
          <p:nvPr/>
        </p:nvSpPr>
        <p:spPr>
          <a:xfrm>
            <a:off x="2148840" y="1188720"/>
            <a:ext cx="146304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number circle 2"/>
          <p:cNvSpPr/>
          <p:nvPr/>
        </p:nvSpPr>
        <p:spPr>
          <a:xfrm>
            <a:off x="2286000" y="1325880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22860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 title 2"/>
          <p:cNvSpPr txBox="1"/>
          <p:nvPr/>
        </p:nvSpPr>
        <p:spPr>
          <a:xfrm>
            <a:off x="2286000" y="1828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Validate voter</a:t>
            </a:r>
            <a:endParaRPr lang="en-US" sz="1400" dirty="0"/>
          </a:p>
        </p:txBody>
      </p:sp>
      <p:sp>
        <p:nvSpPr>
          <p:cNvPr id="12" name="Step text 2"/>
          <p:cNvSpPr txBox="1"/>
          <p:nvPr/>
        </p:nvSpPr>
        <p:spPr>
          <a:xfrm>
            <a:off x="2286000" y="212140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Voter must exist in the users collection</a:t>
            </a:r>
            <a:endParaRPr lang="en-US" sz="1200" dirty="0"/>
          </a:p>
        </p:txBody>
      </p:sp>
      <p:sp>
        <p:nvSpPr>
          <p:cNvPr id="13" name="Step card 3"/>
          <p:cNvSpPr/>
          <p:nvPr/>
        </p:nvSpPr>
        <p:spPr>
          <a:xfrm>
            <a:off x="3840480" y="1188720"/>
            <a:ext cx="146304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number circle 3"/>
          <p:cNvSpPr/>
          <p:nvPr/>
        </p:nvSpPr>
        <p:spPr>
          <a:xfrm>
            <a:off x="3977640" y="1325880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Step number 3"/>
          <p:cNvSpPr txBox="1"/>
          <p:nvPr/>
        </p:nvSpPr>
        <p:spPr>
          <a:xfrm>
            <a:off x="3977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tep title 3"/>
          <p:cNvSpPr txBox="1"/>
          <p:nvPr/>
        </p:nvSpPr>
        <p:spPr>
          <a:xfrm>
            <a:off x="3977640" y="1828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 candidate</a:t>
            </a:r>
            <a:endParaRPr lang="en-US" sz="1400" dirty="0"/>
          </a:p>
        </p:txBody>
      </p:sp>
      <p:sp>
        <p:nvSpPr>
          <p:cNvPr id="17" name="Step text 3"/>
          <p:cNvSpPr txBox="1"/>
          <p:nvPr/>
        </p:nvSpPr>
        <p:spPr>
          <a:xfrm>
            <a:off x="3977640" y="212140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Selected candidate must exist</a:t>
            </a:r>
            <a:endParaRPr lang="en-US" sz="1200" dirty="0"/>
          </a:p>
        </p:txBody>
      </p:sp>
      <p:sp>
        <p:nvSpPr>
          <p:cNvPr id="18" name="Step card 4"/>
          <p:cNvSpPr/>
          <p:nvPr/>
        </p:nvSpPr>
        <p:spPr>
          <a:xfrm>
            <a:off x="5532120" y="1188720"/>
            <a:ext cx="1463040" cy="182880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tep number circle 4"/>
          <p:cNvSpPr/>
          <p:nvPr/>
        </p:nvSpPr>
        <p:spPr>
          <a:xfrm>
            <a:off x="5669280" y="1325880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tep number 4"/>
          <p:cNvSpPr txBox="1"/>
          <p:nvPr/>
        </p:nvSpPr>
        <p:spPr>
          <a:xfrm>
            <a:off x="56692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Step title 4"/>
          <p:cNvSpPr txBox="1"/>
          <p:nvPr/>
        </p:nvSpPr>
        <p:spPr>
          <a:xfrm>
            <a:off x="5669280" y="1828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 status</a:t>
            </a:r>
            <a:endParaRPr lang="en-US" sz="1400" dirty="0"/>
          </a:p>
        </p:txBody>
      </p:sp>
      <p:sp>
        <p:nvSpPr>
          <p:cNvPr id="22" name="Step text 4"/>
          <p:cNvSpPr txBox="1"/>
          <p:nvPr/>
        </p:nvSpPr>
        <p:spPr>
          <a:xfrm>
            <a:off x="5669280" y="212140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Has this voter already voted?</a:t>
            </a:r>
            <a:endParaRPr lang="en-US" sz="1200" dirty="0"/>
          </a:p>
        </p:txBody>
      </p:sp>
      <p:sp>
        <p:nvSpPr>
          <p:cNvPr id="23" name="Step card 5"/>
          <p:cNvSpPr/>
          <p:nvPr/>
        </p:nvSpPr>
        <p:spPr>
          <a:xfrm>
            <a:off x="7223760" y="1188720"/>
            <a:ext cx="146304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tep number circle 5"/>
          <p:cNvSpPr/>
          <p:nvPr/>
        </p:nvSpPr>
        <p:spPr>
          <a:xfrm>
            <a:off x="7360920" y="1325880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Step number 5"/>
          <p:cNvSpPr txBox="1"/>
          <p:nvPr/>
        </p:nvSpPr>
        <p:spPr>
          <a:xfrm>
            <a:off x="73609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Step title 5"/>
          <p:cNvSpPr txBox="1"/>
          <p:nvPr/>
        </p:nvSpPr>
        <p:spPr>
          <a:xfrm>
            <a:off x="7360920" y="1828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Store vote</a:t>
            </a:r>
            <a:endParaRPr lang="en-US" sz="1400" dirty="0"/>
          </a:p>
        </p:txBody>
      </p:sp>
      <p:sp>
        <p:nvSpPr>
          <p:cNvPr id="27" name="Step text 5"/>
          <p:cNvSpPr txBox="1"/>
          <p:nvPr/>
        </p:nvSpPr>
        <p:spPr>
          <a:xfrm>
            <a:off x="7360920" y="212140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Save the vote, set hasVoted to true</a:t>
            </a:r>
            <a:endParaRPr lang="en-US" sz="1200" dirty="0"/>
          </a:p>
        </p:txBody>
      </p:sp>
      <p:sp>
        <p:nvSpPr>
          <p:cNvPr id="28" name="Rejected card"/>
          <p:cNvSpPr/>
          <p:nvPr/>
        </p:nvSpPr>
        <p:spPr>
          <a:xfrm>
            <a:off x="457200" y="3291840"/>
            <a:ext cx="3977640" cy="128016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Rejected text"/>
          <p:cNvSpPr txBox="1"/>
          <p:nvPr/>
        </p:nvSpPr>
        <p:spPr>
          <a:xfrm>
            <a:off x="685800" y="33832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Already voted: request rejected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Returns 400 “You have already voted” and stores nothing</a:t>
            </a:r>
            <a:endParaRPr lang="en-US" sz="1600" dirty="0"/>
          </a:p>
        </p:txBody>
      </p:sp>
      <p:sp>
        <p:nvSpPr>
          <p:cNvPr id="30" name="Accepted card"/>
          <p:cNvSpPr/>
          <p:nvPr/>
        </p:nvSpPr>
        <p:spPr>
          <a:xfrm>
            <a:off x="4709160" y="3291840"/>
            <a:ext cx="3977640" cy="128016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Accepted text"/>
          <p:cNvSpPr txBox="1"/>
          <p:nvPr/>
        </p:nvSpPr>
        <p:spPr>
          <a:xfrm>
            <a:off x="4937760" y="33832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Not voted: vote accepted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Vote saved in MongoDB, voter marked as voted, confirmation shown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Implementation: Models and APIs</a:t>
            </a:r>
            <a:endParaRPr lang="en-US" sz="3200" dirty="0"/>
          </a:p>
        </p:txBody>
      </p:sp>
      <p:sp>
        <p:nvSpPr>
          <p:cNvPr id="3" name="Models card"/>
          <p:cNvSpPr/>
          <p:nvPr/>
        </p:nvSpPr>
        <p:spPr>
          <a:xfrm>
            <a:off x="457200" y="118872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els heading"/>
          <p:cNvSpPr txBox="1"/>
          <p:nvPr/>
        </p:nvSpPr>
        <p:spPr>
          <a:xfrm>
            <a:off x="68580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Mongoose data models</a:t>
            </a:r>
            <a:endParaRPr lang="en-US" sz="1800" dirty="0"/>
          </a:p>
        </p:txBody>
      </p:sp>
      <p:sp>
        <p:nvSpPr>
          <p:cNvPr id="5" name="Models text"/>
          <p:cNvSpPr txBox="1"/>
          <p:nvPr/>
        </p:nvSpPr>
        <p:spPr>
          <a:xfrm>
            <a:off x="685800" y="17830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User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name, email, password, role, hasVoted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Candidate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name, party, symbol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Vote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voterId, candidateId, candidateName, voteDate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Stack: HTML, CSS, JavaScript, Node.js, Express.js, MongoDB</a:t>
            </a:r>
            <a:endParaRPr lang="en-US" sz="1400" dirty="0"/>
          </a:p>
        </p:txBody>
      </p:sp>
      <p:graphicFrame>
        <p:nvGraphicFramePr>
          <p:cNvPr id="9" name="API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188720"/>
          <a:ext cx="438912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508760"/>
                <a:gridCol w="2103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/api/register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Register a voter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/api/login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Authenticate a user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/api/candidates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List candidates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/api/candidates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Add a candidate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/api/vote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Cast a vote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/api/votes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Retrieve all votes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/api/users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Retrieve all users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Testing and Sample Output</a:t>
            </a:r>
            <a:endParaRPr lang="en-US" sz="3200" dirty="0"/>
          </a:p>
        </p:txBody>
      </p:sp>
      <p:graphicFrame>
        <p:nvGraphicFramePr>
          <p:cNvPr id="10" name="Te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scenario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Observed result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Empty form fields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Blocked by validation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Wrong login details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“Invalid email or password”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Duplicate registration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“Email already registered”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Second vote attempt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“You have already voted”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Valid vote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Stored, confirmation shown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Screens card"/>
          <p:cNvSpPr/>
          <p:nvPr/>
        </p:nvSpPr>
        <p:spPr>
          <a:xfrm>
            <a:off x="4937760" y="1188720"/>
            <a:ext cx="3749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creens heading"/>
          <p:cNvSpPr txBox="1"/>
          <p:nvPr/>
        </p:nvSpPr>
        <p:spPr>
          <a:xfrm>
            <a:off x="516636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Screens captured</a:t>
            </a:r>
            <a:endParaRPr lang="en-US" sz="1800" dirty="0"/>
          </a:p>
        </p:txBody>
      </p:sp>
      <p:sp>
        <p:nvSpPr>
          <p:cNvPr id="6" name="Screens list"/>
          <p:cNvSpPr txBox="1"/>
          <p:nvPr/>
        </p:nvSpPr>
        <p:spPr>
          <a:xfrm>
            <a:off x="5166360" y="178308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Home with admin and voter login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 login and dashboard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Voter login and candidate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“Vote Successful” confirmation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Election results page</a:t>
            </a:r>
            <a:endParaRPr lang="en-US" sz="1400" dirty="0"/>
          </a:p>
        </p:txBody>
      </p:sp>
      <p:sp>
        <p:nvSpPr>
          <p:cNvPr id="7" name="Takeaway card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akeaway text"/>
          <p:cNvSpPr txBox="1"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Each module was tested on its own, then end to end across frontend, API and database.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and Future Work</a:t>
            </a:r>
            <a:endParaRPr lang="en-US" sz="3200" dirty="0"/>
          </a:p>
        </p:txBody>
      </p:sp>
      <p:sp>
        <p:nvSpPr>
          <p:cNvPr id="3" name="Achieved circle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Achieve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405890"/>
            <a:ext cx="251460" cy="251460"/>
          </a:xfrm>
          <a:prstGeom prst="rect">
            <a:avLst/>
          </a:prstGeom>
        </p:spPr>
      </p:pic>
      <p:sp>
        <p:nvSpPr>
          <p:cNvPr id="5" name="Achieved heading"/>
          <p:cNvSpPr txBox="1"/>
          <p:nvPr/>
        </p:nvSpPr>
        <p:spPr>
          <a:xfrm>
            <a:off x="1097280" y="1280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we achieved</a:t>
            </a:r>
            <a:endParaRPr lang="en-US" sz="2000" dirty="0"/>
          </a:p>
        </p:txBody>
      </p:sp>
      <p:sp>
        <p:nvSpPr>
          <p:cNvPr id="6" name="Achieved points"/>
          <p:cNvSpPr txBox="1"/>
          <p:nvPr/>
        </p:nvSpPr>
        <p:spPr>
          <a:xfrm>
            <a:off x="457200" y="19659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Digitised registration, login, candidate viewing and voting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Duplicate votes blocked by validation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Voters, candidates and votes kept in MongoDB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Practical full-stack and REST API experience</a:t>
            </a:r>
            <a:endParaRPr lang="en-US" sz="1400" dirty="0"/>
          </a:p>
        </p:txBody>
      </p:sp>
      <p:sp>
        <p:nvSpPr>
          <p:cNvPr id="7" name="Thank you"/>
          <p:cNvSpPr txBox="1"/>
          <p:nvPr/>
        </p:nvSpPr>
        <p:spPr>
          <a:xfrm>
            <a:off x="457200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Thank you</a:t>
            </a:r>
            <a:endParaRPr lang="en-US" sz="2400" dirty="0"/>
          </a:p>
        </p:txBody>
      </p:sp>
      <p:sp>
        <p:nvSpPr>
          <p:cNvPr id="8" name="Future card"/>
          <p:cNvSpPr/>
          <p:nvPr/>
        </p:nvSpPr>
        <p:spPr>
          <a:xfrm>
            <a:off x="4754880" y="1234440"/>
            <a:ext cx="3931920" cy="333756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Future heading"/>
          <p:cNvSpPr txBox="1"/>
          <p:nvPr/>
        </p:nvSpPr>
        <p:spPr>
          <a:xfrm>
            <a:off x="502920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10" name="Future points"/>
          <p:cNvSpPr txBox="1"/>
          <p:nvPr/>
        </p:nvSpPr>
        <p:spPr>
          <a:xfrm>
            <a:off x="5029200" y="1874520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OTP-based voter verification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JWT authentication and role-based access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Hashed password storage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Real-time results with charts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Email and SMS notifications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Mobile app and cloud deployment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ction Navy">
  <a:themeElements>
    <a:clrScheme name="Election Navy">
      <a:dk1>
        <a:srgbClr val="1B1F3B"/>
      </a:dk1>
      <a:lt1>
        <a:srgbClr val="FFFFFF"/>
      </a:lt1>
      <a:dk2>
        <a:srgbClr val="14213D"/>
      </a:dk2>
      <a:lt2>
        <a:srgbClr val="EEF2F8"/>
      </a:lt2>
      <a:accent1>
        <a:srgbClr val="FCA311"/>
      </a:accent1>
      <a:accent2>
        <a:srgbClr val="2E7D32"/>
      </a:accent2>
      <a:accent3>
        <a:srgbClr val="3A5BA0"/>
      </a:accent3>
      <a:accent4>
        <a:srgbClr val="B3261E"/>
      </a:accent4>
      <a:accent5>
        <a:srgbClr val="6B7A99"/>
      </a:accent5>
      <a:accent6>
        <a:srgbClr val="0F766E"/>
      </a:accent6>
      <a:hlink>
        <a:srgbClr val="3A5BA0"/>
      </a:hlink>
      <a:folHlink>
        <a:srgbClr val="6B7A99"/>
      </a:folHlink>
    </a:clrScheme>
    <a:fontScheme name="Election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Election System - Summer Internship Report</dc:title>
  <dc:subject>PptxGenJS Presentation</dc:subject>
  <dc:creator>Jeya Sanora Freshia J</dc:creator>
  <cp:lastModifiedBy>Jeya Sanora Freshia J</cp:lastModifiedBy>
  <cp:revision>1</cp:revision>
  <dcterms:created xsi:type="dcterms:W3CDTF">2026-10-21T21:22:29Z</dcterms:created>
  <dcterms:modified xsi:type="dcterms:W3CDTF">2026-10-21T21:22:29Z</dcterms:modified>
</cp:coreProperties>
</file>